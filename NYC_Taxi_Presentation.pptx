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3864"/>
                </a:solidFill>
                <a:latin typeface="Arial"/>
              </a:rPr>
              <a:t>Trips by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 Volume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12AM</c:v>
                </c:pt>
                <c:pt idx="1">
                  <c:v>3AM</c:v>
                </c:pt>
                <c:pt idx="2">
                  <c:v>6AM</c:v>
                </c:pt>
                <c:pt idx="3">
                  <c:v>9AM</c:v>
                </c:pt>
                <c:pt idx="4">
                  <c:v>12PM</c:v>
                </c:pt>
                <c:pt idx="5">
                  <c:v>3PM</c:v>
                </c:pt>
                <c:pt idx="6">
                  <c:v>6PM</c:v>
                </c:pt>
                <c:pt idx="7">
                  <c:v>9PM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650</c:v>
                </c:pt>
                <c:pt idx="1">
                  <c:v>280</c:v>
                </c:pt>
                <c:pt idx="2">
                  <c:v>420</c:v>
                </c:pt>
                <c:pt idx="3">
                  <c:v>1200</c:v>
                </c:pt>
                <c:pt idx="4">
                  <c:v>1450</c:v>
                </c:pt>
                <c:pt idx="5">
                  <c:v>1600</c:v>
                </c:pt>
                <c:pt idx="6">
                  <c:v>1950</c:v>
                </c:pt>
                <c:pt idx="7">
                  <c:v>1750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6E-4E41-BBBC-E44A247E7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43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5120" y="-274320"/>
            <a:ext cx="2926080" cy="29260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Fare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Big Data Analytics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CSCI461 — Introduction to Big Data  |  Nile University  |  Spring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324612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21408" y="32461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3.2.1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324612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85616" y="32461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9824" y="324612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32461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41M+ 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14032" y="324612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14032" y="32461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 MB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Predict Taxi Fares?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in New York City, millions of taxi trips happen. The exact fare is unknown until the trip ends.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plan or budget their travel cost before the trip ends.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Companies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fair pricing models to stay competitive with ride-hailing apps.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Planners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fare patterns to understand demand and optimize transportation.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962656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962656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2841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660MB public dataset — ideal for Big Data pipeline practice.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Build a machine learning model that predicts the NYC taxi fare amount from trip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NYC Yellow Taxi Trip Records 2024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come from?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 (official government data)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Parquet files (Jan–Dec 2024)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Hadoop Distributed File System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via NYC TLC public API (data_ingestion.py)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record contains: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pickup/dropoff time &amp; location, passenger count, trip distance, fare, tip, payment 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4133088"/>
            <a:ext cx="411480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330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Parquet? Columnar format — reads only columns needed, 3-5x faster than CSV, saves 75% storage space.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1965960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12471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00600" y="18836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 (2024)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078992"/>
            <a:ext cx="19659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12471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 MB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03720" y="18836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450592"/>
            <a:ext cx="196596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49631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00600" y="3255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Trip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450592"/>
            <a:ext cx="1965960" cy="1234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249631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03720" y="3255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767328"/>
            <a:ext cx="416052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767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 660.90 MB  —  satisfies the course requirement of &gt;500 MB for Big Data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Tools — What We Used and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HDFS  v3.2.1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1155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660MB raw data. Keeps raw files in /taxi/raw/ and cleaned data in /taxi/processed/. Fault-tolerant — data survives container restarts.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v3.0  (PySpark)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11155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472184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41M rows in-memory across multiple CPU cores. 100x faster than traditional tools. Used for cleaning, EDA, and feature engineering.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114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41401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at Scale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770632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ML library inside Spark. Trains the regression model on 28M rows without moving data off the cluster. Native DataFrame integration.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Zeppelin  v0.10.1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241401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70632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connected directly to the Spark cluster. Used for live bar charts, pie charts, and trend analysis on the full cleaned dataset.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41148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YARN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7124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Resource Manager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069080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CPU and memory across cluster jobs so Spark runs efficiently without conflicts between notebook sessions.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758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675888"/>
            <a:ext cx="41148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(9 containers)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37124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Cluster Environment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069080"/>
            <a:ext cx="39136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entire Hadoop + Spark + Zeppelin cluster on a laptop. One command — docker-compose up — starts everything in under 60 seconds.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— What Was Wrong Before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contained millions of broken records. Every issue below had to be detected and removed using Apache Spark: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4,091,232 records  (9.94%)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with no data: passenger count, rate code, surcharges, airport fee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Timestamps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38,893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810512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recorded in 2002 and other years — inside a 2024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551176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51176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Passengers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6060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401,354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288036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logged with 0 or negative passenger count — physically impossible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551176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551176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6060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776,305 records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288036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with 0 or negative distance — meter never ran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21024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9768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36758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748,284 records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950208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and total amounts recorded as negative numbers — data entry errors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62102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621024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36758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 records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950208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over 100 miles, fares over $500, or durations over 3 hours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removed after cleaning: 5,567,505 — 13.5% of the raw dataset was invalid or unusable.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Before vs After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with Apache Spark in 5 automated steps — the original raw files were never modified: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200400" cy="3218688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2004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41,169,720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3317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697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660.90 MB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30632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4,091,232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34290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5,567,505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37947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added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38728" y="2880360"/>
            <a:ext cx="4572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13632" y="28163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93008" y="3127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07408" y="1417320"/>
            <a:ext cx="4462272" cy="321868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07408" y="1417320"/>
            <a:ext cx="446227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07408" y="1417320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4568" y="1965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63056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35,602,215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63056" y="2157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(5,567,505 removed — 13.5%)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44568" y="2331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3056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2523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new features engineered)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44568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3056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63056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 resolved)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445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63056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added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63056" y="32552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day, month, duration, is_weekend, fare/mile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44568" y="3429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Path: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63056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/taxi/processed/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63056" y="3621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output saved to HDFS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44568" y="3794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63056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(80/20 split)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63056" y="3986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28.4M train · 7.1M test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 — Exploratory Data Analysis (EDA)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aggregations on all 35.6M cleaned records — no sampling, full dataset: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17320"/>
          <a:ext cx="53035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17320"/>
            <a:ext cx="3154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60720" y="141732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14630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17190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from 6 PM to 9 PM. Lowest between 3–5 AM.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212848"/>
            <a:ext cx="3154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60720" y="2212848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2258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Fares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 peaks at 5 AM — airport trips with long distances.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3008376"/>
            <a:ext cx="3154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3008376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97880" y="30540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Fare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relationship: longer trip = higher fare. #1 predictor.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60720" y="3803904"/>
            <a:ext cx="3154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760720" y="3803904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9788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Effect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7880" y="4105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demand patterns differ — captured by is_weekend feature.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0" y="4709160"/>
            <a:ext cx="91440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709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Trip distance is the strongest predictor of taxi fare — confirmed by full-dataset EDA.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 Model — Predicting Taxi Fares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problem?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fare_amount — a dollar number. This is a Regression problem.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Linear Regression  |  Library: Apache Spark MLlib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EDA showed a clear straight-line relationship: distance drives fare
2.  Fully explainable — each feature has a coefficient showing its impact
3.  Scales to 28M+ training rows natively inside Spark — no bottleneck
4.  Strong baseline: R² = 0.89 means no complex model is needed first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959352"/>
            <a:ext cx="3419856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959352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80%  — 28,480,061 trips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3959352"/>
            <a:ext cx="1234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94760" y="3959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7,122,154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Input Features: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417320"/>
            <a:ext cx="3566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58384" y="14630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96128" y="145389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95744" y="1453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predictor — distance drives fare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755648"/>
            <a:ext cx="3566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58384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96128" y="17922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trip_duration_minutes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95744" y="179222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time affects fare amount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2093976"/>
            <a:ext cx="3566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58384" y="213969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96128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95744" y="213055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taxi meter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432304"/>
            <a:ext cx="3566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58384" y="247802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96128" y="24688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pickup_hour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95744" y="246888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affects demand &amp; fare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2770632"/>
            <a:ext cx="3566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58384" y="28163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96128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95744" y="2807208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patterns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108960"/>
            <a:ext cx="3566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58384" y="31546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96128" y="314553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pickup_month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95744" y="314553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fare variation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3447288"/>
            <a:ext cx="3566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58384" y="34930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96128" y="348386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95744" y="348386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pricing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3785616"/>
            <a:ext cx="3566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58384" y="38313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596128" y="3822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095744" y="382219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trip 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03520" y="4123944"/>
            <a:ext cx="3566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358384" y="41696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96128" y="41605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PULocationID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95744" y="416052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 (263 NYC zones)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0" y="4462272"/>
            <a:ext cx="3566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358384" y="45079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96128" y="44988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DOLocationID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095744" y="4498848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zone (263 NYC zones)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How Accurate Is Our Prediction?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7,122,154 real NYC taxi trips the model had never seen before: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$2.16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715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081528"/>
            <a:ext cx="261518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the model is off by only $2.16.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$20 trip, we predict between $17.84 and $22.16.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44752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44752"/>
            <a:ext cx="2834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1536192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89.3%</a:t>
            </a:r>
            <a:endParaRPr lang="en-US" sz="5000" dirty="0"/>
          </a:p>
        </p:txBody>
      </p:sp>
      <p:sp>
        <p:nvSpPr>
          <p:cNvPr id="15" name="Shape 13"/>
          <p:cNvSpPr/>
          <p:nvPr/>
        </p:nvSpPr>
        <p:spPr>
          <a:xfrm>
            <a:off x="3410712" y="265176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7832" y="2715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61518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89.3% of all fare variation in the test data. Only 10.7% is unexplained — very strong for a linear baseline.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444752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1444752"/>
            <a:ext cx="2834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1344" y="1536192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$5.93</a:t>
            </a:r>
            <a:endParaRPr lang="en-US" sz="5000" dirty="0"/>
          </a:p>
        </p:txBody>
      </p:sp>
      <p:sp>
        <p:nvSpPr>
          <p:cNvPr id="21" name="Shape 19"/>
          <p:cNvSpPr/>
          <p:nvPr/>
        </p:nvSpPr>
        <p:spPr>
          <a:xfrm>
            <a:off x="6364224" y="265176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81344" y="2715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 Error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081528"/>
            <a:ext cx="261518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higher than MAE because unusual long trips with big fares pull it up. Most predictions are much closer.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 If a trip costs $20, our model predicts within ~$2.16 on average — strong performance on 35.6M real trips.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560320"/>
            <a:ext cx="4114800" cy="41148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786384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" y="138988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660 MB / 41.2M raw NYC taxi trips using Hadoop HDFS 3.2.1 + Apache Spark 3.0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100584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18888" y="100584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74336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74336" y="138988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Spark steps removed 5.57M invalid records — original raw files untouched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24028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24028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" y="262432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6-9 PM · highest fares at 5 AM · distance is #1 predictor of fare amount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224028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18888" y="224028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74336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62432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(Spark MLlib) · R² = 0.8934 · MAE = $2.16 · trained on 28.4M trips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7472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347472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" y="385876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 · documented 5.5M data quality issues · full educational workflow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18888" y="3474720"/>
            <a:ext cx="411480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18888" y="347472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74336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74336" y="385876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Random Forest &amp; GBT · add borough names · analyze airport trips separately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CSCI461 — Introduction to Big Data  |  Nile University  |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1374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 Prediction</dc:title>
  <dc:subject>PptxGenJS Presentation</dc:subject>
  <dc:creator>PptxGenJS</dc:creator>
  <cp:lastModifiedBy>kamel alsaweer</cp:lastModifiedBy>
  <cp:revision>1</cp:revision>
  <dcterms:created xsi:type="dcterms:W3CDTF">2026-05-17T00:58:18Z</dcterms:created>
  <dcterms:modified xsi:type="dcterms:W3CDTF">2026-05-17T01:24:57Z</dcterms:modified>
</cp:coreProperties>
</file>